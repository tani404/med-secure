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6858000" cy="9693275"/>
  <p:notesSz cx="9693275"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5" d="100"/>
          <a:sy n="75" d="100"/>
        </p:scale>
        <p:origin x="2208" y="-6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3281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9728" y="109728"/>
            <a:ext cx="6638544" cy="9473184"/>
          </a:xfrm>
          <a:prstGeom prst="rect">
            <a:avLst/>
          </a:prstGeom>
          <a:ln w="31750">
            <a:solidFill>
              <a:srgbClr val="4472C4"/>
            </a:solidFill>
            <a:prstDash val="solid"/>
          </a:ln>
        </p:spPr>
      </p:sp>
      <p:sp>
        <p:nvSpPr>
          <p:cNvPr id="3" name="Shape 1"/>
          <p:cNvSpPr/>
          <p:nvPr/>
        </p:nvSpPr>
        <p:spPr>
          <a:xfrm>
            <a:off x="164592" y="164592"/>
            <a:ext cx="6528816" cy="9363456"/>
          </a:xfrm>
          <a:prstGeom prst="rect">
            <a:avLst/>
          </a:prstGeom>
          <a:ln w="9525">
            <a:solidFill>
              <a:srgbClr val="4472C4"/>
            </a:solidFill>
            <a:prstDash val="solid"/>
          </a:ln>
        </p:spPr>
      </p:sp>
      <p:sp>
        <p:nvSpPr>
          <p:cNvPr id="4" name="Shape 2"/>
          <p:cNvSpPr/>
          <p:nvPr/>
        </p:nvSpPr>
        <p:spPr>
          <a:xfrm>
            <a:off x="164592" y="164592"/>
            <a:ext cx="6528816" cy="1188720"/>
          </a:xfrm>
          <a:prstGeom prst="rect">
            <a:avLst/>
          </a:prstGeom>
          <a:solidFill>
            <a:srgbClr val="FFFFFF"/>
          </a:solidFill>
          <a:ln w="15240">
            <a:solidFill>
              <a:srgbClr val="4472C4"/>
            </a:solidFill>
            <a:prstDash val="solid"/>
          </a:ln>
        </p:spPr>
      </p:sp>
      <p:pic>
        <p:nvPicPr>
          <p:cNvPr id="5" name="Image 0" descr="preencoded.png"/>
          <p:cNvPicPr>
            <a:picLocks noChangeAspect="1"/>
          </p:cNvPicPr>
          <p:nvPr/>
        </p:nvPicPr>
        <p:blipFill>
          <a:blip r:embed="rId3"/>
          <a:stretch>
            <a:fillRect/>
          </a:stretch>
        </p:blipFill>
        <p:spPr>
          <a:xfrm>
            <a:off x="201168" y="201168"/>
            <a:ext cx="1280160" cy="1078992"/>
          </a:xfrm>
          <a:prstGeom prst="rect">
            <a:avLst/>
          </a:prstGeom>
        </p:spPr>
      </p:pic>
      <p:sp>
        <p:nvSpPr>
          <p:cNvPr id="6" name="Shape 3"/>
          <p:cNvSpPr/>
          <p:nvPr/>
        </p:nvSpPr>
        <p:spPr>
          <a:xfrm>
            <a:off x="1536192" y="228600"/>
            <a:ext cx="0" cy="1051560"/>
          </a:xfrm>
          <a:prstGeom prst="line">
            <a:avLst/>
          </a:prstGeom>
          <a:noFill/>
          <a:ln w="12700">
            <a:solidFill>
              <a:srgbClr val="4472C4"/>
            </a:solidFill>
            <a:prstDash val="solid"/>
          </a:ln>
        </p:spPr>
      </p:sp>
      <p:sp>
        <p:nvSpPr>
          <p:cNvPr id="7" name="Text 4"/>
          <p:cNvSpPr/>
          <p:nvPr/>
        </p:nvSpPr>
        <p:spPr>
          <a:xfrm>
            <a:off x="1600200" y="219456"/>
            <a:ext cx="5029200" cy="1115568"/>
          </a:xfrm>
          <a:prstGeom prst="rect">
            <a:avLst/>
          </a:prstGeom>
          <a:noFill/>
          <a:ln/>
        </p:spPr>
        <p:txBody>
          <a:bodyPr wrap="square" rtlCol="0" anchor="ctr"/>
          <a:lstStyle/>
          <a:p>
            <a:pPr marL="0" indent="0" algn="ctr">
              <a:buNone/>
            </a:pPr>
            <a:r>
              <a:rPr lang="en-US" sz="1500" b="1" dirty="0">
                <a:solidFill>
                  <a:srgbClr val="1F3864"/>
                </a:solidFill>
                <a:latin typeface="Calibri" pitchFamily="34" charset="0"/>
                <a:ea typeface="Calibri" pitchFamily="34" charset="-122"/>
                <a:cs typeface="Calibri" pitchFamily="34" charset="-120"/>
              </a:rPr>
              <a:t>MEDSECURE: BLOCKCHAIN &amp; AI-POWERED</a:t>
            </a:r>
            <a:endParaRPr lang="en-US" sz="1500" dirty="0"/>
          </a:p>
          <a:p>
            <a:pPr marL="0" indent="0" algn="ctr">
              <a:buNone/>
            </a:pPr>
            <a:r>
              <a:rPr lang="en-US" sz="1500" b="1" dirty="0">
                <a:solidFill>
                  <a:srgbClr val="1F3864"/>
                </a:solidFill>
                <a:latin typeface="Calibri" pitchFamily="34" charset="0"/>
                <a:ea typeface="Calibri" pitchFamily="34" charset="-122"/>
                <a:cs typeface="Calibri" pitchFamily="34" charset="-120"/>
              </a:rPr>
              <a:t>COUNTERFEIT MEDICINE DETECTION</a:t>
            </a:r>
            <a:endParaRPr lang="en-US" sz="1500" dirty="0"/>
          </a:p>
        </p:txBody>
      </p:sp>
      <p:sp>
        <p:nvSpPr>
          <p:cNvPr id="8" name="Text 5"/>
          <p:cNvSpPr/>
          <p:nvPr/>
        </p:nvSpPr>
        <p:spPr>
          <a:xfrm>
            <a:off x="256032" y="1389888"/>
            <a:ext cx="6345936" cy="237744"/>
          </a:xfrm>
          <a:prstGeom prst="rect">
            <a:avLst/>
          </a:prstGeom>
          <a:noFill/>
          <a:ln/>
        </p:spPr>
        <p:txBody>
          <a:bodyPr wrap="square" lIns="0" tIns="0" rIns="0" bIns="0" rtlCol="0" anchor="ctr"/>
          <a:lstStyle/>
          <a:p>
            <a:pPr marL="0" indent="0">
              <a:buNone/>
            </a:pPr>
            <a:r>
              <a:rPr lang="en-US" sz="1000" b="1" dirty="0">
                <a:solidFill>
                  <a:srgbClr val="1F3864"/>
                </a:solidFill>
                <a:latin typeface="Calibri" pitchFamily="34" charset="0"/>
                <a:ea typeface="Calibri" pitchFamily="34" charset="-122"/>
                <a:cs typeface="Calibri" pitchFamily="34" charset="-120"/>
              </a:rPr>
              <a:t>Brief Description:</a:t>
            </a:r>
            <a:endParaRPr lang="en-US" sz="1000" dirty="0"/>
          </a:p>
        </p:txBody>
      </p:sp>
      <p:sp>
        <p:nvSpPr>
          <p:cNvPr id="9" name="Text 6"/>
          <p:cNvSpPr/>
          <p:nvPr/>
        </p:nvSpPr>
        <p:spPr>
          <a:xfrm>
            <a:off x="256032" y="1645920"/>
            <a:ext cx="6345936" cy="841248"/>
          </a:xfrm>
          <a:prstGeom prst="rect">
            <a:avLst/>
          </a:prstGeom>
          <a:noFill/>
          <a:ln/>
        </p:spPr>
        <p:txBody>
          <a:bodyPr wrap="square" lIns="0" tIns="0" rIns="0" bIns="0" rtlCol="0" anchor="t"/>
          <a:lstStyle/>
          <a:p>
            <a:pPr marL="0" indent="0" algn="just">
              <a:buNone/>
            </a:pPr>
            <a:r>
              <a:rPr lang="en-US" sz="850" dirty="0">
                <a:solidFill>
                  <a:srgbClr val="1A1A1A"/>
                </a:solidFill>
                <a:latin typeface="Calibri" pitchFamily="34" charset="0"/>
                <a:ea typeface="Calibri" pitchFamily="34" charset="-122"/>
                <a:cs typeface="Calibri" pitchFamily="34" charset="-120"/>
              </a:rPr>
              <a:t>MedSecure is a final-year B.Tech project that tackles the growing problem of fake medicines in the supply chain. It uses Ethereum blockchain to permanently record every medicine batch from the moment it is made, through distributors and pharmacies, all the way to the consumer. Every transfer of ownership is locked on-chain — meaning nobody can alter the history. A computer vision module (powered by OpenCV) compares live packaging photos against the original manufacturer images to detect counterfeits. Consumers simply scan a QR code on the medicine box to instantly verify whether it is genuine — no technical knowledge required.</a:t>
            </a:r>
            <a:endParaRPr lang="en-US" sz="850" dirty="0"/>
          </a:p>
        </p:txBody>
      </p:sp>
      <p:sp>
        <p:nvSpPr>
          <p:cNvPr id="10" name="Shape 7"/>
          <p:cNvSpPr/>
          <p:nvPr/>
        </p:nvSpPr>
        <p:spPr>
          <a:xfrm>
            <a:off x="256032" y="2523744"/>
            <a:ext cx="6345936" cy="0"/>
          </a:xfrm>
          <a:prstGeom prst="line">
            <a:avLst/>
          </a:prstGeom>
          <a:noFill/>
          <a:ln w="6350">
            <a:solidFill>
              <a:srgbClr val="CCCCCC"/>
            </a:solidFill>
            <a:prstDash val="solid"/>
          </a:ln>
        </p:spPr>
      </p:sp>
      <p:sp>
        <p:nvSpPr>
          <p:cNvPr id="11" name="Text 8"/>
          <p:cNvSpPr/>
          <p:nvPr/>
        </p:nvSpPr>
        <p:spPr>
          <a:xfrm>
            <a:off x="256032" y="2578608"/>
            <a:ext cx="2926080" cy="237744"/>
          </a:xfrm>
          <a:prstGeom prst="rect">
            <a:avLst/>
          </a:prstGeom>
          <a:noFill/>
          <a:ln/>
        </p:spPr>
        <p:txBody>
          <a:bodyPr wrap="square" lIns="0" tIns="0" rIns="0" bIns="0" rtlCol="0" anchor="ctr"/>
          <a:lstStyle/>
          <a:p>
            <a:pPr marL="0" indent="0">
              <a:buNone/>
            </a:pPr>
            <a:r>
              <a:rPr lang="en-US" sz="1000" b="1" dirty="0">
                <a:solidFill>
                  <a:srgbClr val="1F3864"/>
                </a:solidFill>
                <a:latin typeface="Calibri" pitchFamily="34" charset="0"/>
                <a:ea typeface="Calibri" pitchFamily="34" charset="-122"/>
                <a:cs typeface="Calibri" pitchFamily="34" charset="-120"/>
              </a:rPr>
              <a:t>Principle:</a:t>
            </a:r>
            <a:endParaRPr lang="en-US" sz="1000" dirty="0"/>
          </a:p>
        </p:txBody>
      </p:sp>
      <p:sp>
        <p:nvSpPr>
          <p:cNvPr id="12" name="Text 9"/>
          <p:cNvSpPr/>
          <p:nvPr/>
        </p:nvSpPr>
        <p:spPr>
          <a:xfrm>
            <a:off x="256032" y="2834640"/>
            <a:ext cx="3200400" cy="1691640"/>
          </a:xfrm>
          <a:prstGeom prst="rect">
            <a:avLst/>
          </a:prstGeom>
          <a:noFill/>
          <a:ln/>
        </p:spPr>
        <p:txBody>
          <a:bodyPr wrap="square" lIns="0" tIns="0" rIns="0" bIns="0" rtlCol="0" anchor="t"/>
          <a:lstStyle/>
          <a:p>
            <a:pPr marL="0" indent="0" algn="just">
              <a:buNone/>
            </a:pPr>
            <a:r>
              <a:rPr lang="en-US" sz="850" dirty="0">
                <a:solidFill>
                  <a:srgbClr val="1A1A1A"/>
                </a:solidFill>
                <a:latin typeface="Calibri" pitchFamily="34" charset="0"/>
                <a:ea typeface="Calibri" pitchFamily="34" charset="-122"/>
                <a:cs typeface="Calibri" pitchFamily="34" charset="-120"/>
              </a:rPr>
              <a:t>The system's core relies on Ethereum smart contracts that enforce strict rules — only the current owner of a medicine batch can transfer it to the next party. Medicine data and packaging images are stored on IPFS (a decentralised file system), with only the reference hash written on-chain. A QR code is generated for each batch; once a unit is sold, the QR is permanently locked to prevent re-use by counterfeiters. The computer vision module uses ORB feature matching and SSIM comparison to produce an authenticity confidence score — above 75% means genuine.</a:t>
            </a:r>
            <a:endParaRPr lang="en-US" sz="850" dirty="0"/>
          </a:p>
        </p:txBody>
      </p:sp>
      <p:pic>
        <p:nvPicPr>
          <p:cNvPr id="13" name="Image 1" descr="preencoded.png"/>
          <p:cNvPicPr>
            <a:picLocks noChangeAspect="1"/>
          </p:cNvPicPr>
          <p:nvPr/>
        </p:nvPicPr>
        <p:blipFill>
          <a:blip r:embed="rId4"/>
          <a:stretch>
            <a:fillRect/>
          </a:stretch>
        </p:blipFill>
        <p:spPr>
          <a:xfrm>
            <a:off x="3566160" y="2578608"/>
            <a:ext cx="3017520" cy="1993392"/>
          </a:xfrm>
          <a:prstGeom prst="rect">
            <a:avLst/>
          </a:prstGeom>
        </p:spPr>
      </p:pic>
      <p:sp>
        <p:nvSpPr>
          <p:cNvPr id="14" name="Shape 10"/>
          <p:cNvSpPr/>
          <p:nvPr/>
        </p:nvSpPr>
        <p:spPr>
          <a:xfrm>
            <a:off x="256032" y="4608576"/>
            <a:ext cx="6345936" cy="0"/>
          </a:xfrm>
          <a:prstGeom prst="line">
            <a:avLst/>
          </a:prstGeom>
          <a:noFill/>
          <a:ln w="6350">
            <a:solidFill>
              <a:srgbClr val="CCCCCC"/>
            </a:solidFill>
            <a:prstDash val="solid"/>
          </a:ln>
        </p:spPr>
      </p:sp>
      <p:sp>
        <p:nvSpPr>
          <p:cNvPr id="15" name="Text 11"/>
          <p:cNvSpPr/>
          <p:nvPr/>
        </p:nvSpPr>
        <p:spPr>
          <a:xfrm>
            <a:off x="256032" y="4663440"/>
            <a:ext cx="2926080" cy="237744"/>
          </a:xfrm>
          <a:prstGeom prst="rect">
            <a:avLst/>
          </a:prstGeom>
          <a:noFill/>
          <a:ln/>
        </p:spPr>
        <p:txBody>
          <a:bodyPr wrap="square" lIns="0" tIns="0" rIns="0" bIns="0" rtlCol="0" anchor="ctr"/>
          <a:lstStyle/>
          <a:p>
            <a:pPr marL="0" indent="0">
              <a:buNone/>
            </a:pPr>
            <a:r>
              <a:rPr lang="en-US" sz="1000" b="1" dirty="0">
                <a:solidFill>
                  <a:srgbClr val="1F3864"/>
                </a:solidFill>
                <a:latin typeface="Calibri" pitchFamily="34" charset="0"/>
                <a:ea typeface="Calibri" pitchFamily="34" charset="-122"/>
                <a:cs typeface="Calibri" pitchFamily="34" charset="-120"/>
              </a:rPr>
              <a:t>Beneficiaries:</a:t>
            </a:r>
            <a:endParaRPr lang="en-US" sz="1000" dirty="0"/>
          </a:p>
        </p:txBody>
      </p:sp>
      <p:sp>
        <p:nvSpPr>
          <p:cNvPr id="16" name="Text 12"/>
          <p:cNvSpPr/>
          <p:nvPr/>
        </p:nvSpPr>
        <p:spPr>
          <a:xfrm>
            <a:off x="256032" y="4919472"/>
            <a:ext cx="2926080" cy="969264"/>
          </a:xfrm>
          <a:prstGeom prst="rect">
            <a:avLst/>
          </a:prstGeom>
          <a:noFill/>
          <a:ln/>
        </p:spPr>
        <p:txBody>
          <a:bodyPr wrap="square" lIns="0" tIns="0" rIns="0" bIns="0" rtlCol="0" anchor="t"/>
          <a:lstStyle/>
          <a:p>
            <a:pPr marL="342900" indent="-342900">
              <a:buSzPct val="100000"/>
              <a:buChar char="•"/>
            </a:pPr>
            <a:r>
              <a:rPr lang="en-US" sz="850" dirty="0">
                <a:solidFill>
                  <a:srgbClr val="1A1A1A"/>
                </a:solidFill>
                <a:latin typeface="Calibri" pitchFamily="34" charset="0"/>
                <a:ea typeface="Calibri" pitchFamily="34" charset="-122"/>
                <a:cs typeface="Calibri" pitchFamily="34" charset="-120"/>
              </a:rPr>
              <a:t>Consumers buying medicines</a:t>
            </a:r>
            <a:endParaRPr lang="en-US" sz="850" dirty="0"/>
          </a:p>
          <a:p>
            <a:pPr marL="342900" indent="-342900">
              <a:buSzPct val="100000"/>
              <a:buChar char="•"/>
            </a:pPr>
            <a:r>
              <a:rPr lang="en-US" sz="850" dirty="0">
                <a:solidFill>
                  <a:srgbClr val="1A1A1A"/>
                </a:solidFill>
                <a:latin typeface="Calibri" pitchFamily="34" charset="0"/>
                <a:ea typeface="Calibri" pitchFamily="34" charset="-122"/>
                <a:cs typeface="Calibri" pitchFamily="34" charset="-120"/>
              </a:rPr>
              <a:t>Pharmacies &amp; retail chemists</a:t>
            </a:r>
            <a:endParaRPr lang="en-US" sz="850" dirty="0"/>
          </a:p>
          <a:p>
            <a:pPr marL="342900" indent="-342900">
              <a:buSzPct val="100000"/>
              <a:buChar char="•"/>
            </a:pPr>
            <a:r>
              <a:rPr lang="en-US" sz="850" dirty="0">
                <a:solidFill>
                  <a:srgbClr val="1A1A1A"/>
                </a:solidFill>
                <a:latin typeface="Calibri" pitchFamily="34" charset="0"/>
                <a:ea typeface="Calibri" pitchFamily="34" charset="-122"/>
                <a:cs typeface="Calibri" pitchFamily="34" charset="-120"/>
              </a:rPr>
              <a:t>Medicine manufacturers</a:t>
            </a:r>
            <a:endParaRPr lang="en-US" sz="850" dirty="0"/>
          </a:p>
          <a:p>
            <a:pPr marL="342900" indent="-342900">
              <a:buSzPct val="100000"/>
              <a:buChar char="•"/>
            </a:pPr>
            <a:r>
              <a:rPr lang="en-US" sz="850" dirty="0">
                <a:solidFill>
                  <a:srgbClr val="1A1A1A"/>
                </a:solidFill>
                <a:latin typeface="Calibri" pitchFamily="34" charset="0"/>
                <a:ea typeface="Calibri" pitchFamily="34" charset="-122"/>
                <a:cs typeface="Calibri" pitchFamily="34" charset="-120"/>
              </a:rPr>
              <a:t>Distributors &amp; wholesalers</a:t>
            </a:r>
            <a:endParaRPr lang="en-US" sz="850" dirty="0"/>
          </a:p>
          <a:p>
            <a:pPr marL="342900" indent="-342900">
              <a:buSzPct val="100000"/>
              <a:buChar char="•"/>
            </a:pPr>
            <a:r>
              <a:rPr lang="en-US" sz="850" dirty="0">
                <a:solidFill>
                  <a:srgbClr val="1A1A1A"/>
                </a:solidFill>
                <a:latin typeface="Calibri" pitchFamily="34" charset="0"/>
                <a:ea typeface="Calibri" pitchFamily="34" charset="-122"/>
                <a:cs typeface="Calibri" pitchFamily="34" charset="-120"/>
              </a:rPr>
              <a:t>Drug regulatory authorities</a:t>
            </a:r>
            <a:endParaRPr lang="en-US" sz="850" dirty="0"/>
          </a:p>
          <a:p>
            <a:pPr marL="342900" indent="-342900">
              <a:buSzPct val="100000"/>
              <a:buChar char="•"/>
            </a:pPr>
            <a:r>
              <a:rPr lang="en-US" sz="850" dirty="0">
                <a:solidFill>
                  <a:srgbClr val="1A1A1A"/>
                </a:solidFill>
                <a:latin typeface="Calibri" pitchFamily="34" charset="0"/>
                <a:ea typeface="Calibri" pitchFamily="34" charset="-122"/>
                <a:cs typeface="Calibri" pitchFamily="34" charset="-120"/>
              </a:rPr>
              <a:t>Healthcare organisations</a:t>
            </a:r>
            <a:endParaRPr lang="en-US" sz="850" dirty="0"/>
          </a:p>
        </p:txBody>
      </p:sp>
      <p:sp>
        <p:nvSpPr>
          <p:cNvPr id="17" name="Shape 13"/>
          <p:cNvSpPr/>
          <p:nvPr/>
        </p:nvSpPr>
        <p:spPr>
          <a:xfrm>
            <a:off x="3429000" y="4663440"/>
            <a:ext cx="0" cy="1280160"/>
          </a:xfrm>
          <a:prstGeom prst="line">
            <a:avLst/>
          </a:prstGeom>
          <a:noFill/>
          <a:ln w="6350">
            <a:solidFill>
              <a:srgbClr val="CCCCCC"/>
            </a:solidFill>
            <a:prstDash val="solid"/>
          </a:ln>
        </p:spPr>
      </p:sp>
      <p:sp>
        <p:nvSpPr>
          <p:cNvPr id="18" name="Text 14"/>
          <p:cNvSpPr/>
          <p:nvPr/>
        </p:nvSpPr>
        <p:spPr>
          <a:xfrm>
            <a:off x="3520440" y="4663440"/>
            <a:ext cx="2926080" cy="237744"/>
          </a:xfrm>
          <a:prstGeom prst="rect">
            <a:avLst/>
          </a:prstGeom>
          <a:noFill/>
          <a:ln/>
        </p:spPr>
        <p:txBody>
          <a:bodyPr wrap="square" lIns="0" tIns="0" rIns="0" bIns="0" rtlCol="0" anchor="ctr"/>
          <a:lstStyle/>
          <a:p>
            <a:pPr marL="0" indent="0">
              <a:buNone/>
            </a:pPr>
            <a:r>
              <a:rPr lang="en-US" sz="1000" b="1" dirty="0">
                <a:solidFill>
                  <a:srgbClr val="1F3864"/>
                </a:solidFill>
                <a:latin typeface="Calibri" pitchFamily="34" charset="0"/>
                <a:ea typeface="Calibri" pitchFamily="34" charset="-122"/>
                <a:cs typeface="Calibri" pitchFamily="34" charset="-120"/>
              </a:rPr>
              <a:t>Benefits:</a:t>
            </a:r>
            <a:endParaRPr lang="en-US" sz="1000" dirty="0"/>
          </a:p>
        </p:txBody>
      </p:sp>
      <p:sp>
        <p:nvSpPr>
          <p:cNvPr id="19" name="Text 15"/>
          <p:cNvSpPr/>
          <p:nvPr/>
        </p:nvSpPr>
        <p:spPr>
          <a:xfrm>
            <a:off x="3520440" y="4919472"/>
            <a:ext cx="2926080" cy="969264"/>
          </a:xfrm>
          <a:prstGeom prst="rect">
            <a:avLst/>
          </a:prstGeom>
          <a:noFill/>
          <a:ln/>
        </p:spPr>
        <p:txBody>
          <a:bodyPr wrap="square" lIns="0" tIns="0" rIns="0" bIns="0" rtlCol="0" anchor="t"/>
          <a:lstStyle/>
          <a:p>
            <a:pPr marL="342900" indent="-342900">
              <a:buSzPct val="100000"/>
              <a:buChar char="•"/>
            </a:pPr>
            <a:r>
              <a:rPr lang="en-US" sz="850" dirty="0">
                <a:solidFill>
                  <a:srgbClr val="1A1A1A"/>
                </a:solidFill>
                <a:latin typeface="Calibri" pitchFamily="34" charset="0"/>
                <a:ea typeface="Calibri" pitchFamily="34" charset="-122"/>
                <a:cs typeface="Calibri" pitchFamily="34" charset="-120"/>
              </a:rPr>
              <a:t>Protects patients from counterfeit drugs</a:t>
            </a:r>
            <a:endParaRPr lang="en-US" sz="850" dirty="0"/>
          </a:p>
          <a:p>
            <a:pPr marL="342900" indent="-342900">
              <a:buSzPct val="100000"/>
              <a:buChar char="•"/>
            </a:pPr>
            <a:r>
              <a:rPr lang="en-US" sz="850" dirty="0">
                <a:solidFill>
                  <a:srgbClr val="1A1A1A"/>
                </a:solidFill>
                <a:latin typeface="Calibri" pitchFamily="34" charset="0"/>
                <a:ea typeface="Calibri" pitchFamily="34" charset="-122"/>
                <a:cs typeface="Calibri" pitchFamily="34" charset="-120"/>
              </a:rPr>
              <a:t>Full, tamper-proof supply chain history</a:t>
            </a:r>
            <a:endParaRPr lang="en-US" sz="850" dirty="0"/>
          </a:p>
          <a:p>
            <a:pPr marL="342900" indent="-342900">
              <a:buSzPct val="100000"/>
              <a:buChar char="•"/>
            </a:pPr>
            <a:r>
              <a:rPr lang="en-US" sz="850" dirty="0">
                <a:solidFill>
                  <a:srgbClr val="1A1A1A"/>
                </a:solidFill>
                <a:latin typeface="Calibri" pitchFamily="34" charset="0"/>
                <a:ea typeface="Calibri" pitchFamily="34" charset="-122"/>
                <a:cs typeface="Calibri" pitchFamily="34" charset="-120"/>
              </a:rPr>
              <a:t>Instant QR-based verification for anyone</a:t>
            </a:r>
            <a:endParaRPr lang="en-US" sz="850" dirty="0"/>
          </a:p>
          <a:p>
            <a:pPr marL="342900" indent="-342900">
              <a:buSzPct val="100000"/>
              <a:buChar char="•"/>
            </a:pPr>
            <a:r>
              <a:rPr lang="en-US" sz="850" dirty="0">
                <a:solidFill>
                  <a:srgbClr val="1A1A1A"/>
                </a:solidFill>
                <a:latin typeface="Calibri" pitchFamily="34" charset="0"/>
                <a:ea typeface="Calibri" pitchFamily="34" charset="-122"/>
                <a:cs typeface="Calibri" pitchFamily="34" charset="-120"/>
              </a:rPr>
              <a:t>AI-powered packaging fraud detection</a:t>
            </a:r>
            <a:endParaRPr lang="en-US" sz="850" dirty="0"/>
          </a:p>
          <a:p>
            <a:pPr marL="342900" indent="-342900">
              <a:buSzPct val="100000"/>
              <a:buChar char="•"/>
            </a:pPr>
            <a:r>
              <a:rPr lang="en-US" sz="850" dirty="0">
                <a:solidFill>
                  <a:srgbClr val="1A1A1A"/>
                </a:solidFill>
                <a:latin typeface="Calibri" pitchFamily="34" charset="0"/>
                <a:ea typeface="Calibri" pitchFamily="34" charset="-122"/>
                <a:cs typeface="Calibri" pitchFamily="34" charset="-120"/>
              </a:rPr>
              <a:t>No single point of failure (decentralised)</a:t>
            </a:r>
            <a:endParaRPr lang="en-US" sz="850" dirty="0"/>
          </a:p>
          <a:p>
            <a:pPr marL="342900" indent="-342900">
              <a:buSzPct val="100000"/>
              <a:buChar char="•"/>
            </a:pPr>
            <a:r>
              <a:rPr lang="en-US" sz="850" dirty="0">
                <a:solidFill>
                  <a:srgbClr val="1A1A1A"/>
                </a:solidFill>
                <a:latin typeface="Calibri" pitchFamily="34" charset="0"/>
                <a:ea typeface="Calibri" pitchFamily="34" charset="-122"/>
                <a:cs typeface="Calibri" pitchFamily="34" charset="-120"/>
              </a:rPr>
              <a:t>Helps regulators trace recalled medicines</a:t>
            </a:r>
            <a:endParaRPr lang="en-US" sz="850" dirty="0"/>
          </a:p>
        </p:txBody>
      </p:sp>
      <p:sp>
        <p:nvSpPr>
          <p:cNvPr id="20" name="Shape 16"/>
          <p:cNvSpPr/>
          <p:nvPr/>
        </p:nvSpPr>
        <p:spPr>
          <a:xfrm>
            <a:off x="256032" y="5961888"/>
            <a:ext cx="6345936" cy="0"/>
          </a:xfrm>
          <a:prstGeom prst="line">
            <a:avLst/>
          </a:prstGeom>
          <a:noFill/>
          <a:ln w="6350">
            <a:solidFill>
              <a:srgbClr val="CCCCCC"/>
            </a:solidFill>
            <a:prstDash val="solid"/>
          </a:ln>
        </p:spPr>
      </p:sp>
      <p:sp>
        <p:nvSpPr>
          <p:cNvPr id="21" name="Text 17"/>
          <p:cNvSpPr/>
          <p:nvPr/>
        </p:nvSpPr>
        <p:spPr>
          <a:xfrm>
            <a:off x="256032" y="6016752"/>
            <a:ext cx="6345936" cy="237744"/>
          </a:xfrm>
          <a:prstGeom prst="rect">
            <a:avLst/>
          </a:prstGeom>
          <a:noFill/>
          <a:ln/>
        </p:spPr>
        <p:txBody>
          <a:bodyPr wrap="square" lIns="0" tIns="0" rIns="0" bIns="0" rtlCol="0" anchor="ctr"/>
          <a:lstStyle/>
          <a:p>
            <a:pPr marL="0" indent="0">
              <a:buNone/>
            </a:pPr>
            <a:r>
              <a:rPr lang="en-US" sz="1000" b="1" dirty="0">
                <a:solidFill>
                  <a:srgbClr val="1F3864"/>
                </a:solidFill>
                <a:latin typeface="Calibri" pitchFamily="34" charset="0"/>
                <a:ea typeface="Calibri" pitchFamily="34" charset="-122"/>
                <a:cs typeface="Calibri" pitchFamily="34" charset="-120"/>
              </a:rPr>
              <a:t>Technologies Used:</a:t>
            </a:r>
            <a:endParaRPr lang="en-US" sz="1000" dirty="0"/>
          </a:p>
        </p:txBody>
      </p:sp>
      <p:sp>
        <p:nvSpPr>
          <p:cNvPr id="22" name="Text 18"/>
          <p:cNvSpPr/>
          <p:nvPr/>
        </p:nvSpPr>
        <p:spPr>
          <a:xfrm>
            <a:off x="256032" y="6272784"/>
            <a:ext cx="3017520" cy="1371600"/>
          </a:xfrm>
          <a:prstGeom prst="rect">
            <a:avLst/>
          </a:prstGeom>
          <a:noFill/>
          <a:ln/>
        </p:spPr>
        <p:txBody>
          <a:bodyPr wrap="square" lIns="0" tIns="0" rIns="0" bIns="0" rtlCol="0" anchor="t"/>
          <a:lstStyle/>
          <a:p>
            <a:pPr marL="342900" indent="-342900">
              <a:buSzPct val="100000"/>
              <a:buChar char="•"/>
            </a:pPr>
            <a:r>
              <a:rPr lang="en-US" sz="850" b="1" dirty="0">
                <a:solidFill>
                  <a:srgbClr val="1A1A1A"/>
                </a:solidFill>
                <a:latin typeface="Calibri" pitchFamily="34" charset="0"/>
                <a:ea typeface="Calibri" pitchFamily="34" charset="-122"/>
                <a:cs typeface="Calibri" pitchFamily="34" charset="-120"/>
              </a:rPr>
              <a:t>Ethereum &amp; Solidity</a:t>
            </a:r>
            <a:endParaRPr lang="en-US" sz="850" dirty="0"/>
          </a:p>
          <a:p>
            <a:pPr marL="0" indent="0">
              <a:buNone/>
            </a:pPr>
            <a:r>
              <a:rPr lang="en-US" sz="850" dirty="0">
                <a:solidFill>
                  <a:srgbClr val="444444"/>
                </a:solidFill>
                <a:latin typeface="Calibri" pitchFamily="34" charset="0"/>
                <a:ea typeface="Calibri" pitchFamily="34" charset="-122"/>
                <a:cs typeface="Calibri" pitchFamily="34" charset="-120"/>
              </a:rPr>
              <a:t>Smart contracts on Sepolia testnet via Foundry</a:t>
            </a:r>
            <a:endParaRPr lang="en-US" sz="850" dirty="0"/>
          </a:p>
          <a:p>
            <a:pPr marL="342900" indent="-342900">
              <a:buSzPct val="100000"/>
              <a:buChar char="•"/>
            </a:pPr>
            <a:r>
              <a:rPr lang="en-US" sz="850" b="1" dirty="0">
                <a:solidFill>
                  <a:srgbClr val="1A1A1A"/>
                </a:solidFill>
                <a:latin typeface="Calibri" pitchFamily="34" charset="0"/>
                <a:ea typeface="Calibri" pitchFamily="34" charset="-122"/>
                <a:cs typeface="Calibri" pitchFamily="34" charset="-120"/>
              </a:rPr>
              <a:t>IPFS</a:t>
            </a:r>
            <a:endParaRPr lang="en-US" sz="850" dirty="0"/>
          </a:p>
          <a:p>
            <a:pPr marL="0" indent="0">
              <a:buNone/>
            </a:pPr>
            <a:r>
              <a:rPr lang="en-US" sz="850" dirty="0">
                <a:solidFill>
                  <a:srgbClr val="444444"/>
                </a:solidFill>
                <a:latin typeface="Calibri" pitchFamily="34" charset="0"/>
                <a:ea typeface="Calibri" pitchFamily="34" charset="-122"/>
                <a:cs typeface="Calibri" pitchFamily="34" charset="-120"/>
              </a:rPr>
              <a:t>Decentralised document &amp; image storage</a:t>
            </a:r>
            <a:endParaRPr lang="en-US" sz="850" dirty="0"/>
          </a:p>
          <a:p>
            <a:pPr marL="342900" indent="-342900">
              <a:buSzPct val="100000"/>
              <a:buChar char="•"/>
            </a:pPr>
            <a:r>
              <a:rPr lang="en-US" sz="850" b="1" dirty="0">
                <a:solidFill>
                  <a:srgbClr val="1A1A1A"/>
                </a:solidFill>
                <a:latin typeface="Calibri" pitchFamily="34" charset="0"/>
                <a:ea typeface="Calibri" pitchFamily="34" charset="-122"/>
                <a:cs typeface="Calibri" pitchFamily="34" charset="-120"/>
              </a:rPr>
              <a:t>Next.js + Viem + Wagmi</a:t>
            </a:r>
            <a:endParaRPr lang="en-US" sz="850" dirty="0"/>
          </a:p>
          <a:p>
            <a:pPr marL="0" indent="0">
              <a:buNone/>
            </a:pPr>
            <a:r>
              <a:rPr lang="en-US" sz="850" dirty="0">
                <a:solidFill>
                  <a:srgbClr val="444444"/>
                </a:solidFill>
                <a:latin typeface="Calibri" pitchFamily="34" charset="0"/>
                <a:ea typeface="Calibri" pitchFamily="34" charset="-122"/>
                <a:cs typeface="Calibri" pitchFamily="34" charset="-120"/>
              </a:rPr>
              <a:t>Web frontend with MetaMask wallet integration</a:t>
            </a:r>
            <a:endParaRPr lang="en-US" sz="850" dirty="0"/>
          </a:p>
        </p:txBody>
      </p:sp>
      <p:sp>
        <p:nvSpPr>
          <p:cNvPr id="23" name="Text 19"/>
          <p:cNvSpPr/>
          <p:nvPr/>
        </p:nvSpPr>
        <p:spPr>
          <a:xfrm>
            <a:off x="3401568" y="6272784"/>
            <a:ext cx="3200400" cy="1371600"/>
          </a:xfrm>
          <a:prstGeom prst="rect">
            <a:avLst/>
          </a:prstGeom>
          <a:noFill/>
          <a:ln/>
        </p:spPr>
        <p:txBody>
          <a:bodyPr wrap="square" lIns="0" tIns="0" rIns="0" bIns="0" rtlCol="0" anchor="t"/>
          <a:lstStyle/>
          <a:p>
            <a:pPr marL="342900" indent="-342900">
              <a:buSzPct val="100000"/>
              <a:buChar char="•"/>
            </a:pPr>
            <a:r>
              <a:rPr lang="en-US" sz="850" b="1" dirty="0">
                <a:solidFill>
                  <a:srgbClr val="1A1A1A"/>
                </a:solidFill>
                <a:latin typeface="Calibri" pitchFamily="34" charset="0"/>
                <a:ea typeface="Calibri" pitchFamily="34" charset="-122"/>
                <a:cs typeface="Calibri" pitchFamily="34" charset="-120"/>
              </a:rPr>
              <a:t>OpenCV (Python)</a:t>
            </a:r>
            <a:endParaRPr lang="en-US" sz="850" dirty="0"/>
          </a:p>
          <a:p>
            <a:pPr marL="0" indent="0">
              <a:buNone/>
            </a:pPr>
            <a:r>
              <a:rPr lang="en-US" sz="850" dirty="0">
                <a:solidFill>
                  <a:srgbClr val="444444"/>
                </a:solidFill>
                <a:latin typeface="Calibri" pitchFamily="34" charset="0"/>
                <a:ea typeface="Calibri" pitchFamily="34" charset="-122"/>
                <a:cs typeface="Calibri" pitchFamily="34" charset="-120"/>
              </a:rPr>
              <a:t>ORB feature matching + SSIM for packaging auth</a:t>
            </a:r>
            <a:endParaRPr lang="en-US" sz="850" dirty="0"/>
          </a:p>
          <a:p>
            <a:pPr marL="342900" indent="-342900">
              <a:buSzPct val="100000"/>
              <a:buChar char="•"/>
            </a:pPr>
            <a:r>
              <a:rPr lang="en-US" sz="850" b="1" dirty="0">
                <a:solidFill>
                  <a:srgbClr val="1A1A1A"/>
                </a:solidFill>
                <a:latin typeface="Calibri" pitchFamily="34" charset="0"/>
                <a:ea typeface="Calibri" pitchFamily="34" charset="-122"/>
                <a:cs typeface="Calibri" pitchFamily="34" charset="-120"/>
              </a:rPr>
              <a:t>PostgreSQL</a:t>
            </a:r>
            <a:endParaRPr lang="en-US" sz="850" dirty="0"/>
          </a:p>
          <a:p>
            <a:pPr marL="0" indent="0">
              <a:buNone/>
            </a:pPr>
            <a:r>
              <a:rPr lang="en-US" sz="850" dirty="0">
                <a:solidFill>
                  <a:srgbClr val="444444"/>
                </a:solidFill>
                <a:latin typeface="Calibri" pitchFamily="34" charset="0"/>
                <a:ea typeface="Calibri" pitchFamily="34" charset="-122"/>
                <a:cs typeface="Calibri" pitchFamily="34" charset="-120"/>
              </a:rPr>
              <a:t>Off-chain audit logs, QR scan &amp; session records</a:t>
            </a:r>
            <a:endParaRPr lang="en-US" sz="850" dirty="0"/>
          </a:p>
          <a:p>
            <a:pPr marL="342900" indent="-342900">
              <a:buSzPct val="100000"/>
              <a:buChar char="•"/>
            </a:pPr>
            <a:r>
              <a:rPr lang="en-US" sz="850" b="1" dirty="0">
                <a:solidFill>
                  <a:srgbClr val="1A1A1A"/>
                </a:solidFill>
                <a:latin typeface="Calibri" pitchFamily="34" charset="0"/>
                <a:ea typeface="Calibri" pitchFamily="34" charset="-122"/>
                <a:cs typeface="Calibri" pitchFamily="34" charset="-120"/>
              </a:rPr>
              <a:t>Solidity Smart Contract</a:t>
            </a:r>
            <a:endParaRPr lang="en-US" sz="850" dirty="0"/>
          </a:p>
          <a:p>
            <a:pPr marL="0" indent="0">
              <a:buNone/>
            </a:pPr>
            <a:r>
              <a:rPr lang="en-US" sz="850" dirty="0">
                <a:solidFill>
                  <a:srgbClr val="444444"/>
                </a:solidFill>
                <a:latin typeface="Calibri" pitchFamily="34" charset="0"/>
                <a:ea typeface="Calibri" pitchFamily="34" charset="-122"/>
                <a:cs typeface="Calibri" pitchFamily="34" charset="-120"/>
              </a:rPr>
              <a:t>On-chain role-based access, lifecycle state machine</a:t>
            </a:r>
            <a:endParaRPr lang="en-US" sz="850" dirty="0"/>
          </a:p>
        </p:txBody>
      </p:sp>
      <p:graphicFrame>
        <p:nvGraphicFramePr>
          <p:cNvPr id="24" name="Table 0"/>
          <p:cNvGraphicFramePr>
            <a:graphicFrameLocks noGrp="1"/>
          </p:cNvGraphicFramePr>
          <p:nvPr>
            <p:extLst>
              <p:ext uri="{D42A27DB-BD31-4B8C-83A1-F6EECF244321}">
                <p14:modId xmlns:p14="http://schemas.microsoft.com/office/powerpoint/2010/main" val="3426446926"/>
              </p:ext>
            </p:extLst>
          </p:nvPr>
        </p:nvGraphicFramePr>
        <p:xfrm>
          <a:off x="256032" y="7717536"/>
          <a:ext cx="6400800" cy="914400"/>
        </p:xfrm>
        <a:graphic>
          <a:graphicData uri="http://schemas.openxmlformats.org/drawingml/2006/table">
            <a:tbl>
              <a:tblPr/>
              <a:tblGrid>
                <a:gridCol w="1463040">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tblGrid>
              <a:tr h="20116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Department</a:t>
                      </a:r>
                      <a:endParaRPr lang="en-US" sz="900" dirty="0">
                        <a:latin typeface="Calibri" charset="0"/>
                        <a:ea typeface="Calibri" charset="0"/>
                        <a:cs typeface="Calibri" charset="0"/>
                      </a:endParaRPr>
                    </a:p>
                  </a:txBody>
                  <a:tcPr>
                    <a:lnL w="10160" cap="flat" cmpd="sng" algn="ctr">
                      <a:solidFill>
                        <a:srgbClr val="4472C4"/>
                      </a:solidFill>
                      <a:prstDash val="solid"/>
                      <a:round/>
                      <a:headEnd type="none" w="med" len="med"/>
                      <a:tailEnd type="none" w="med" len="med"/>
                    </a:lnL>
                    <a:lnR w="10160" cap="flat" cmpd="sng" algn="ctr">
                      <a:solidFill>
                        <a:srgbClr val="4472C4"/>
                      </a:solidFill>
                      <a:prstDash val="solid"/>
                      <a:round/>
                      <a:headEnd type="none" w="med" len="med"/>
                      <a:tailEnd type="none" w="med" len="med"/>
                    </a:lnR>
                    <a:lnT w="10160" cap="flat" cmpd="sng" algn="ctr">
                      <a:solidFill>
                        <a:srgbClr val="4472C4"/>
                      </a:solidFill>
                      <a:prstDash val="solid"/>
                      <a:round/>
                      <a:headEnd type="none" w="med" len="med"/>
                      <a:tailEnd type="none" w="med" len="med"/>
                    </a:lnT>
                    <a:lnB w="10160" cap="flat" cmpd="sng" algn="ctr">
                      <a:solidFill>
                        <a:srgbClr val="4472C4"/>
                      </a:solidFill>
                      <a:prstDash val="solid"/>
                      <a:round/>
                      <a:headEnd type="none" w="med" len="med"/>
                      <a:tailEnd type="none" w="med" len="med"/>
                    </a:lnB>
                    <a:solidFill>
                      <a:srgbClr val="2E5FA3"/>
                    </a:solidFill>
                  </a:tcPr>
                </a:tc>
                <a:tc>
                  <a:txBody>
                    <a:bodyPr/>
                    <a:lstStyle/>
                    <a:p>
                      <a:pPr marL="0" indent="0" algn="l">
                        <a:buNone/>
                      </a:pPr>
                      <a:r>
                        <a:rPr lang="en-US" sz="900" dirty="0">
                          <a:solidFill>
                            <a:srgbClr val="000000"/>
                          </a:solidFill>
                          <a:latin typeface="Calibri" pitchFamily="34" charset="0"/>
                          <a:ea typeface="Calibri" pitchFamily="34" charset="-122"/>
                          <a:cs typeface="Calibri" pitchFamily="34" charset="-120"/>
                        </a:rPr>
                        <a:t>B.Tech CSE (8th Semester)</a:t>
                      </a:r>
                      <a:endParaRPr lang="en-US" sz="900" dirty="0">
                        <a:latin typeface="Calibri" charset="0"/>
                        <a:ea typeface="Calibri" charset="0"/>
                        <a:cs typeface="Calibri" charset="0"/>
                      </a:endParaRPr>
                    </a:p>
                  </a:txBody>
                  <a:tcPr>
                    <a:lnL w="10160" cap="flat" cmpd="sng" algn="ctr">
                      <a:solidFill>
                        <a:srgbClr val="4472C4"/>
                      </a:solidFill>
                      <a:prstDash val="solid"/>
                      <a:round/>
                      <a:headEnd type="none" w="med" len="med"/>
                      <a:tailEnd type="none" w="med" len="med"/>
                    </a:lnL>
                    <a:lnR w="10160" cap="flat" cmpd="sng" algn="ctr">
                      <a:solidFill>
                        <a:srgbClr val="4472C4"/>
                      </a:solidFill>
                      <a:prstDash val="solid"/>
                      <a:round/>
                      <a:headEnd type="none" w="med" len="med"/>
                      <a:tailEnd type="none" w="med" len="med"/>
                    </a:lnR>
                    <a:lnT w="10160" cap="flat" cmpd="sng" algn="ctr">
                      <a:solidFill>
                        <a:srgbClr val="4472C4"/>
                      </a:solidFill>
                      <a:prstDash val="solid"/>
                      <a:round/>
                      <a:headEnd type="none" w="med" len="med"/>
                      <a:tailEnd type="none" w="med" len="med"/>
                    </a:lnT>
                    <a:lnB w="10160" cap="flat" cmpd="sng" algn="ctr">
                      <a:solidFill>
                        <a:srgbClr val="4472C4"/>
                      </a:solidFill>
                      <a:prstDash val="solid"/>
                      <a:round/>
                      <a:headEnd type="none" w="med" len="med"/>
                      <a:tailEnd type="none" w="med" len="med"/>
                    </a:lnB>
                  </a:tcPr>
                </a:tc>
                <a:extLst>
                  <a:ext uri="{0D108BD9-81ED-4DB2-BD59-A6C34878D82A}">
                    <a16:rowId xmlns:a16="http://schemas.microsoft.com/office/drawing/2014/main" val="10000"/>
                  </a:ext>
                </a:extLst>
              </a:tr>
              <a:tr h="20116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College</a:t>
                      </a:r>
                      <a:endParaRPr lang="en-US" sz="900" dirty="0">
                        <a:latin typeface="Calibri" charset="0"/>
                        <a:ea typeface="Calibri" charset="0"/>
                        <a:cs typeface="Calibri" charset="0"/>
                      </a:endParaRPr>
                    </a:p>
                  </a:txBody>
                  <a:tcPr>
                    <a:lnL w="10160" cap="flat" cmpd="sng" algn="ctr">
                      <a:solidFill>
                        <a:srgbClr val="4472C4"/>
                      </a:solidFill>
                      <a:prstDash val="solid"/>
                      <a:round/>
                      <a:headEnd type="none" w="med" len="med"/>
                      <a:tailEnd type="none" w="med" len="med"/>
                    </a:lnL>
                    <a:lnR w="10160" cap="flat" cmpd="sng" algn="ctr">
                      <a:solidFill>
                        <a:srgbClr val="4472C4"/>
                      </a:solidFill>
                      <a:prstDash val="solid"/>
                      <a:round/>
                      <a:headEnd type="none" w="med" len="med"/>
                      <a:tailEnd type="none" w="med" len="med"/>
                    </a:lnR>
                    <a:lnT w="10160" cap="flat" cmpd="sng" algn="ctr">
                      <a:solidFill>
                        <a:srgbClr val="4472C4"/>
                      </a:solidFill>
                      <a:prstDash val="solid"/>
                      <a:round/>
                      <a:headEnd type="none" w="med" len="med"/>
                      <a:tailEnd type="none" w="med" len="med"/>
                    </a:lnT>
                    <a:lnB w="10160" cap="flat" cmpd="sng" algn="ctr">
                      <a:solidFill>
                        <a:srgbClr val="4472C4"/>
                      </a:solidFill>
                      <a:prstDash val="solid"/>
                      <a:round/>
                      <a:headEnd type="none" w="med" len="med"/>
                      <a:tailEnd type="none" w="med" len="med"/>
                    </a:lnB>
                    <a:solidFill>
                      <a:srgbClr val="2E5FA3"/>
                    </a:solidFill>
                  </a:tcPr>
                </a:tc>
                <a:tc>
                  <a:txBody>
                    <a:bodyPr/>
                    <a:lstStyle/>
                    <a:p>
                      <a:pPr marL="0" indent="0" algn="l">
                        <a:buNone/>
                      </a:pPr>
                      <a:r>
                        <a:rPr lang="en-US" sz="900" dirty="0">
                          <a:solidFill>
                            <a:srgbClr val="000000"/>
                          </a:solidFill>
                          <a:latin typeface="Calibri" pitchFamily="34" charset="0"/>
                          <a:ea typeface="Calibri" pitchFamily="34" charset="-122"/>
                          <a:cs typeface="Calibri" pitchFamily="34" charset="-120"/>
                        </a:rPr>
                        <a:t>ITM SLS Baroda University, Vadodara</a:t>
                      </a:r>
                      <a:endParaRPr lang="en-US" sz="900" dirty="0">
                        <a:latin typeface="Calibri" charset="0"/>
                        <a:ea typeface="Calibri" charset="0"/>
                        <a:cs typeface="Calibri" charset="0"/>
                      </a:endParaRPr>
                    </a:p>
                  </a:txBody>
                  <a:tcPr>
                    <a:lnL w="10160" cap="flat" cmpd="sng" algn="ctr">
                      <a:solidFill>
                        <a:srgbClr val="4472C4"/>
                      </a:solidFill>
                      <a:prstDash val="solid"/>
                      <a:round/>
                      <a:headEnd type="none" w="med" len="med"/>
                      <a:tailEnd type="none" w="med" len="med"/>
                    </a:lnL>
                    <a:lnR w="10160" cap="flat" cmpd="sng" algn="ctr">
                      <a:solidFill>
                        <a:srgbClr val="4472C4"/>
                      </a:solidFill>
                      <a:prstDash val="solid"/>
                      <a:round/>
                      <a:headEnd type="none" w="med" len="med"/>
                      <a:tailEnd type="none" w="med" len="med"/>
                    </a:lnR>
                    <a:lnT w="10160" cap="flat" cmpd="sng" algn="ctr">
                      <a:solidFill>
                        <a:srgbClr val="4472C4"/>
                      </a:solidFill>
                      <a:prstDash val="solid"/>
                      <a:round/>
                      <a:headEnd type="none" w="med" len="med"/>
                      <a:tailEnd type="none" w="med" len="med"/>
                    </a:lnT>
                    <a:lnB w="10160" cap="flat" cmpd="sng" algn="ctr">
                      <a:solidFill>
                        <a:srgbClr val="4472C4"/>
                      </a:solidFill>
                      <a:prstDash val="solid"/>
                      <a:round/>
                      <a:headEnd type="none" w="med" len="med"/>
                      <a:tailEnd type="none" w="med" len="med"/>
                    </a:lnB>
                  </a:tcPr>
                </a:tc>
                <a:extLst>
                  <a:ext uri="{0D108BD9-81ED-4DB2-BD59-A6C34878D82A}">
                    <a16:rowId xmlns:a16="http://schemas.microsoft.com/office/drawing/2014/main" val="10001"/>
                  </a:ext>
                </a:extLst>
              </a:tr>
              <a:tr h="20116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Team Members</a:t>
                      </a:r>
                      <a:endParaRPr lang="en-US" sz="900" dirty="0">
                        <a:latin typeface="Calibri" charset="0"/>
                        <a:ea typeface="Calibri" charset="0"/>
                        <a:cs typeface="Calibri" charset="0"/>
                      </a:endParaRPr>
                    </a:p>
                  </a:txBody>
                  <a:tcPr>
                    <a:lnL w="10160" cap="flat" cmpd="sng" algn="ctr">
                      <a:solidFill>
                        <a:srgbClr val="4472C4"/>
                      </a:solidFill>
                      <a:prstDash val="solid"/>
                      <a:round/>
                      <a:headEnd type="none" w="med" len="med"/>
                      <a:tailEnd type="none" w="med" len="med"/>
                    </a:lnL>
                    <a:lnR w="10160" cap="flat" cmpd="sng" algn="ctr">
                      <a:solidFill>
                        <a:srgbClr val="4472C4"/>
                      </a:solidFill>
                      <a:prstDash val="solid"/>
                      <a:round/>
                      <a:headEnd type="none" w="med" len="med"/>
                      <a:tailEnd type="none" w="med" len="med"/>
                    </a:lnR>
                    <a:lnT w="10160" cap="flat" cmpd="sng" algn="ctr">
                      <a:solidFill>
                        <a:srgbClr val="4472C4"/>
                      </a:solidFill>
                      <a:prstDash val="solid"/>
                      <a:round/>
                      <a:headEnd type="none" w="med" len="med"/>
                      <a:tailEnd type="none" w="med" len="med"/>
                    </a:lnT>
                    <a:lnB w="10160" cap="flat" cmpd="sng" algn="ctr">
                      <a:solidFill>
                        <a:srgbClr val="4472C4"/>
                      </a:solidFill>
                      <a:prstDash val="solid"/>
                      <a:round/>
                      <a:headEnd type="none" w="med" len="med"/>
                      <a:tailEnd type="none" w="med" len="med"/>
                    </a:lnB>
                    <a:solidFill>
                      <a:srgbClr val="2E5FA3"/>
                    </a:solidFill>
                  </a:tcPr>
                </a:tc>
                <a:tc>
                  <a:txBody>
                    <a:bodyPr/>
                    <a:lstStyle/>
                    <a:p>
                      <a:pPr marL="0" indent="0" algn="l">
                        <a:buNone/>
                      </a:pPr>
                      <a:r>
                        <a:rPr lang="en-US" sz="900" dirty="0">
                          <a:solidFill>
                            <a:srgbClr val="000000"/>
                          </a:solidFill>
                          <a:latin typeface="Calibri" pitchFamily="34" charset="0"/>
                          <a:ea typeface="Calibri" pitchFamily="34" charset="-122"/>
                          <a:cs typeface="Calibri" pitchFamily="34" charset="-120"/>
                        </a:rPr>
                        <a:t>Tanisha Katariya | Vraj Sondagar | Ayushi Patel | Krutang Panchal</a:t>
                      </a:r>
                      <a:endParaRPr lang="en-US" sz="900" dirty="0">
                        <a:latin typeface="Calibri" charset="0"/>
                        <a:ea typeface="Calibri" charset="0"/>
                        <a:cs typeface="Calibri" charset="0"/>
                      </a:endParaRPr>
                    </a:p>
                  </a:txBody>
                  <a:tcPr>
                    <a:lnL w="10160" cap="flat" cmpd="sng" algn="ctr">
                      <a:solidFill>
                        <a:srgbClr val="4472C4"/>
                      </a:solidFill>
                      <a:prstDash val="solid"/>
                      <a:round/>
                      <a:headEnd type="none" w="med" len="med"/>
                      <a:tailEnd type="none" w="med" len="med"/>
                    </a:lnL>
                    <a:lnR w="10160" cap="flat" cmpd="sng" algn="ctr">
                      <a:solidFill>
                        <a:srgbClr val="4472C4"/>
                      </a:solidFill>
                      <a:prstDash val="solid"/>
                      <a:round/>
                      <a:headEnd type="none" w="med" len="med"/>
                      <a:tailEnd type="none" w="med" len="med"/>
                    </a:lnR>
                    <a:lnT w="10160" cap="flat" cmpd="sng" algn="ctr">
                      <a:solidFill>
                        <a:srgbClr val="4472C4"/>
                      </a:solidFill>
                      <a:prstDash val="solid"/>
                      <a:round/>
                      <a:headEnd type="none" w="med" len="med"/>
                      <a:tailEnd type="none" w="med" len="med"/>
                    </a:lnT>
                    <a:lnB w="10160" cap="flat" cmpd="sng" algn="ctr">
                      <a:solidFill>
                        <a:srgbClr val="4472C4"/>
                      </a:solidFill>
                      <a:prstDash val="solid"/>
                      <a:round/>
                      <a:headEnd type="none" w="med" len="med"/>
                      <a:tailEnd type="none" w="med" len="med"/>
                    </a:lnB>
                  </a:tcPr>
                </a:tc>
                <a:extLst>
                  <a:ext uri="{0D108BD9-81ED-4DB2-BD59-A6C34878D82A}">
                    <a16:rowId xmlns:a16="http://schemas.microsoft.com/office/drawing/2014/main" val="10002"/>
                  </a:ext>
                </a:extLst>
              </a:tr>
              <a:tr h="20116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Guide</a:t>
                      </a:r>
                      <a:endParaRPr lang="en-US" sz="900" dirty="0">
                        <a:latin typeface="Calibri" charset="0"/>
                        <a:ea typeface="Calibri" charset="0"/>
                        <a:cs typeface="Calibri" charset="0"/>
                      </a:endParaRPr>
                    </a:p>
                  </a:txBody>
                  <a:tcPr>
                    <a:lnL w="10160" cap="flat" cmpd="sng" algn="ctr">
                      <a:solidFill>
                        <a:srgbClr val="4472C4"/>
                      </a:solidFill>
                      <a:prstDash val="solid"/>
                      <a:round/>
                      <a:headEnd type="none" w="med" len="med"/>
                      <a:tailEnd type="none" w="med" len="med"/>
                    </a:lnL>
                    <a:lnR w="10160" cap="flat" cmpd="sng" algn="ctr">
                      <a:solidFill>
                        <a:srgbClr val="4472C4"/>
                      </a:solidFill>
                      <a:prstDash val="solid"/>
                      <a:round/>
                      <a:headEnd type="none" w="med" len="med"/>
                      <a:tailEnd type="none" w="med" len="med"/>
                    </a:lnR>
                    <a:lnT w="10160" cap="flat" cmpd="sng" algn="ctr">
                      <a:solidFill>
                        <a:srgbClr val="4472C4"/>
                      </a:solidFill>
                      <a:prstDash val="solid"/>
                      <a:round/>
                      <a:headEnd type="none" w="med" len="med"/>
                      <a:tailEnd type="none" w="med" len="med"/>
                    </a:lnT>
                    <a:lnB w="10160" cap="flat" cmpd="sng" algn="ctr">
                      <a:solidFill>
                        <a:srgbClr val="4472C4"/>
                      </a:solidFill>
                      <a:prstDash val="solid"/>
                      <a:round/>
                      <a:headEnd type="none" w="med" len="med"/>
                      <a:tailEnd type="none" w="med" len="med"/>
                    </a:lnB>
                    <a:solidFill>
                      <a:srgbClr val="2E5FA3"/>
                    </a:solidFill>
                  </a:tcPr>
                </a:tc>
                <a:tc>
                  <a:txBody>
                    <a:bodyPr/>
                    <a:lstStyle/>
                    <a:p>
                      <a:pPr marL="0" indent="0" algn="l">
                        <a:buNone/>
                      </a:pPr>
                      <a:r>
                        <a:rPr lang="en-US" sz="900" dirty="0">
                          <a:solidFill>
                            <a:srgbClr val="000000"/>
                          </a:solidFill>
                          <a:latin typeface="Calibri" pitchFamily="34" charset="0"/>
                          <a:ea typeface="Calibri" pitchFamily="34" charset="-122"/>
                          <a:cs typeface="Calibri" pitchFamily="34" charset="-120"/>
                        </a:rPr>
                        <a:t>Prof. Shivangi </a:t>
                      </a:r>
                      <a:r>
                        <a:rPr lang="en-US" sz="900" dirty="0" err="1">
                          <a:solidFill>
                            <a:srgbClr val="000000"/>
                          </a:solidFill>
                          <a:latin typeface="Calibri" pitchFamily="34" charset="0"/>
                          <a:ea typeface="Calibri" pitchFamily="34" charset="-122"/>
                          <a:cs typeface="Calibri" pitchFamily="34" charset="-120"/>
                        </a:rPr>
                        <a:t>Mateida</a:t>
                      </a:r>
                      <a:r>
                        <a:rPr lang="en-US" sz="900" dirty="0">
                          <a:solidFill>
                            <a:srgbClr val="000000"/>
                          </a:solidFill>
                          <a:latin typeface="Calibri" pitchFamily="34" charset="0"/>
                          <a:ea typeface="Calibri" pitchFamily="34" charset="-122"/>
                          <a:cs typeface="Calibri" pitchFamily="34" charset="-120"/>
                        </a:rPr>
                        <a:t>, SoCSET, ITM SLS Baroda University, Vadodara</a:t>
                      </a:r>
                      <a:endParaRPr lang="en-US" sz="900" dirty="0">
                        <a:latin typeface="Calibri" charset="0"/>
                        <a:ea typeface="Calibri" charset="0"/>
                        <a:cs typeface="Calibri" charset="0"/>
                      </a:endParaRPr>
                    </a:p>
                  </a:txBody>
                  <a:tcPr>
                    <a:lnL w="10160" cap="flat" cmpd="sng" algn="ctr">
                      <a:solidFill>
                        <a:srgbClr val="4472C4"/>
                      </a:solidFill>
                      <a:prstDash val="solid"/>
                      <a:round/>
                      <a:headEnd type="none" w="med" len="med"/>
                      <a:tailEnd type="none" w="med" len="med"/>
                    </a:lnL>
                    <a:lnR w="10160" cap="flat" cmpd="sng" algn="ctr">
                      <a:solidFill>
                        <a:srgbClr val="4472C4"/>
                      </a:solidFill>
                      <a:prstDash val="solid"/>
                      <a:round/>
                      <a:headEnd type="none" w="med" len="med"/>
                      <a:tailEnd type="none" w="med" len="med"/>
                    </a:lnR>
                    <a:lnT w="10160" cap="flat" cmpd="sng" algn="ctr">
                      <a:solidFill>
                        <a:srgbClr val="4472C4"/>
                      </a:solidFill>
                      <a:prstDash val="solid"/>
                      <a:round/>
                      <a:headEnd type="none" w="med" len="med"/>
                      <a:tailEnd type="none" w="med" len="med"/>
                    </a:lnT>
                    <a:lnB w="10160" cap="flat" cmpd="sng" algn="ctr">
                      <a:solidFill>
                        <a:srgbClr val="4472C4"/>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387</Words>
  <Application>Microsoft Office PowerPoint</Application>
  <PresentationFormat>Custom</PresentationFormat>
  <Paragraphs>42</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Krutang Panchal</cp:lastModifiedBy>
  <cp:revision>4</cp:revision>
  <dcterms:created xsi:type="dcterms:W3CDTF">2026-04-02T10:23:40Z</dcterms:created>
  <dcterms:modified xsi:type="dcterms:W3CDTF">2026-04-02T11:10:28Z</dcterms:modified>
</cp:coreProperties>
</file>